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8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Фото — флагман в Улан-Удэ.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слайд. Домен лендинга впишем, когда он будет готов.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2344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УПРАВЛЯЮЩАЯ КОМПАНИЯ · 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6002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Франшиза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магазинов техники Apple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2062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Работающая сеть в Улан-Удэ и Иркутске. Открываем партнёрские точки в городах Сибири и Дальнего Востока.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5349240"/>
            <a:ext cx="512064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RE:BAR · ИП ЦЫПЫЛОВ Д. · APBAR.RU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ВАШ ДОХОД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Сколько зарабатывает точка — факт, а не обещание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показатели двух наших действующих магазинов за последние месяцы. Не прогноз из финмодели, а то, что уже происходит.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5120640" cy="24231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118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УЛАН-УДЭ · ФОРМАТ «ФЛАГМАН» · С 2021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994</a:t>
            </a:r>
            <a:r>
              <a:rPr lang="en-US" sz="13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тыс. ₽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 в месяц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436168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453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млн ₽ / мес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476402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8554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с кредитования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8554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+ 130 тыс. ₽ / мес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5166360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2880360"/>
            <a:ext cx="5120640" cy="24231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3118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 · ФОРМАТ «СТАНДАРТ» · С 2023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429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544</a:t>
            </a:r>
            <a:r>
              <a:rPr lang="en-US" sz="13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тыс. ₽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 в месяц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436168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453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4453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 млн ₽ / мес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476402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8554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с кредитования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48554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+ 80 тыс. ₽ / мес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5166360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62356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точки принадлежат основателю, а не франчайзи. Приезжайте в любую — покажем зал, кассу и отчёты без записи.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faca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0" y="7772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МЫ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0972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Сети пять лет.</a:t>
            </a:r>
            <a:endParaRPr lang="en-US" sz="3000" dirty="0"/>
          </a:p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Название — новое.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25146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2021 года сеть работает под вывеской AppleBar. В 2026-м мы перешли на re:bar — смена названия по юридическим причинам, связанным с использованием чужого товарного знака.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3703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Магазины, команда, поставщики и покупатели те же. На фотографиях вы увидите старые вывески — мы меняем их поэтапно.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0" y="4709160"/>
            <a:ext cx="59436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0" y="4937760"/>
            <a:ext cx="2377440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2021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551101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Улан-Удэ, флагман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ТРЦ «Гэлакси»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937760"/>
            <a:ext cx="2377440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2023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551101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Иркутск, Богдана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Хмельницкого, 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uu-sig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411480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№ 1 · ФОРМАТ «ФЛАГМАН»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4348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Улан-Удэ</a:t>
            </a:r>
            <a:endParaRPr lang="en-US" sz="3000" dirty="0"/>
          </a:p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ТРЦ «Гэлакси», 3 этаж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760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Флагман сети: широкий зал, витрины по периметру, зона Re:Set, сервис и оформление рассрочки. Работает с 2021 года.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i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7373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№ 2 · ФОРМАТ «СТАНДАРТ»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57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Иркутск</a:t>
            </a:r>
            <a:endParaRPr lang="en-US" sz="3000" dirty="0"/>
          </a:p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Богдана Хмельницкого, 3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520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формат — тот, который мы рекомендуем большинству партнёров. Отдельный вход в центре города, витрины, стойка выдачи. Работает с 2023 года.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82296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СТОИТ НА ПОЛКЕ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430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Больше двадцати брендов,</a:t>
            </a:r>
            <a:endParaRPr lang="en-US" sz="2800" dirty="0"/>
          </a:p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не только Apple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603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даёт трафик и средний чек. Остальные категории добирают оборот и снижают зависимость от одного поставщика.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3657600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749040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Смартфоны и планшеты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643323" y="3749040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· Samsung · Google · Honor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4133088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4224528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Звук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43323" y="4224528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AirPods · JBL · Marshall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608576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4700016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Съёмка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43323" y="4700016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DJI · GoPro · Insta360 · Canon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5084064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5175504"/>
            <a:ext cx="3911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 и красота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643323" y="5175504"/>
            <a:ext cx="2397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Dyson · Medicube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5559552"/>
            <a:ext cx="6309360" cy="10973"/>
          </a:xfrm>
          <a:prstGeom prst="rect">
            <a:avLst/>
          </a:prstGeom>
          <a:solidFill>
            <a:srgbClr val="C7C9C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ТОЧКИ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линии дохода вместо одной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Магазин, который живёт только на продаже новых айфонов, зависит от даты релиза и курса. У нас выручку делают три независимых потока.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3322320" cy="283464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3337560"/>
            <a:ext cx="1040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63016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Новая техника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434840"/>
            <a:ext cx="2737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Официальные новинки в день старта продаж. Даёт трафик, узнаваемость и высокий средний чек, но маржа здесь самая низкая.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19600" y="3063240"/>
            <a:ext cx="3322320" cy="283464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12208" y="3337560"/>
            <a:ext cx="671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12208" y="363016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Re:Set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12208" y="4434840"/>
            <a:ext cx="2737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линейка проверенных устройств с гарантией. Маржа выше, чем на новой технике, а входной порог для покупателя ниже.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7680" y="3063240"/>
            <a:ext cx="3322320" cy="283464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0288" y="3337560"/>
            <a:ext cx="302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400288" y="363016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Сервис и рассрочка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00288" y="4434840"/>
            <a:ext cx="2737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Trade-in, ремонт, аксессуары и кредитование через партнёра Lendo. Доход, не связанный с закупкой товара.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bo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03520" y="77724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· 01 · ГАРАНТИЯ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303520" y="10972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Б/у, за которое</a:t>
            </a:r>
            <a:endParaRPr lang="en-US" sz="2800" dirty="0"/>
          </a:p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отвечает магазин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подержанных айфонов — это объявления, «продаю, всё работает» и никакой ответственности после встречи у метро. Re:Set построен на обратном.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303520" y="3703320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303520" y="3794760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Гарантия магазина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01938" y="3794760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месяца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4123944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03520" y="4215384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перед продажей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01938" y="4215384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чек-листу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4544568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03520" y="4636008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в карточке товара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01938" y="4636008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B, честно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0" y="4965192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303520" y="5056632"/>
            <a:ext cx="3798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по закону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01938" y="5056632"/>
            <a:ext cx="23280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 новый товар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5385816"/>
            <a:ext cx="6126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03520" y="56235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покупателя это единственная причина переплатить относительно объявления. Для партнёра — причина, по которой Re:Set продаётся с нормальной маржой.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82296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· 02 · АССОРТИМЕНТ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430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Тот же телефон,</a:t>
            </a:r>
            <a:endParaRPr lang="en-US" sz="2800" dirty="0"/>
          </a:p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другая цена входа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603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стоит на одной витрине с новой техникой. Покупатель, который пришёл за новым iPhone и не потянул, уходит не к конкуренту, а на соседнюю полку.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3749040"/>
            <a:ext cx="3154680" cy="20116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87552" y="3968496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· СОСТОЯНИЕ 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4261104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iPhone 15 · 128 GB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87552" y="4709160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87552" y="4800600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Re:Set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625974" y="4800600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40 990 ₽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87552" y="5093208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87552" y="5184648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нового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625974" y="5184648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56 990 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87552" y="5477256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3749040"/>
            <a:ext cx="3154680" cy="20116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07992" y="3968496"/>
            <a:ext cx="692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· СОСТОЯНИЕ B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07992" y="4261104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iPhone 14 · 128 GB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07992" y="4709160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07992" y="4800600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Re:Set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46414" y="4800600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35 990 ₽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07992" y="5093208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07992" y="5184648"/>
            <a:ext cx="16384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нового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146414" y="5184648"/>
            <a:ext cx="10041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50 990 ₽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07992" y="5477256"/>
            <a:ext cx="2642616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1520" y="5989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с витрины на дату подготовки презентации. Стартовый ассортимент партнёра подбираем под его город.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RE:SET · 03 · КАЧЕСТВО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Покупатель видит диагностику до оплаты</a:t>
            </a:r>
            <a:endParaRPr lang="en-US" sz="2800" dirty="0"/>
          </a:p>
        </p:txBody>
      </p:sp>
      <p:pic>
        <p:nvPicPr>
          <p:cNvPr id="4" name="Image 0" descr="C:\Users\dead inside\AppData\Local\Temp\claude\D-------\bc764d1c-317c-49cb-8a76-6f68c6dca560\scratchpad\pptx-assets\panel-batte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301752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389120" y="21488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Продавец открывает экран состояния аккумулятора прямо на витрине и показывает его покупателю. Не «мы проверили» — а вот цифры, смотрите сами.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389120" y="3337560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389120" y="3429000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аккумулятора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754466" y="3429000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Нормальное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3758184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89120" y="3849624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Максимальная ёмкость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754466" y="3849624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4178808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89120" y="4270248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Циклов перезарядки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754466" y="4270248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4599432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389120" y="4690872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изготовления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54466" y="4690872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январь 2026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9120" y="5020056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89120" y="5111496"/>
            <a:ext cx="4365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использование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54466" y="5111496"/>
            <a:ext cx="2675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89120" y="5440680"/>
            <a:ext cx="70408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389120" y="5669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экран с витрины в Улан-Удэ. IMEI на ценнике скрыт для публикации.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staf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82296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СЕТИ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1430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Проверка — часть продажи,</a:t>
            </a:r>
            <a:endParaRPr lang="en-US" sz="2600" dirty="0"/>
          </a:p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 не услуга сверху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603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устройство Re:Set проходит одну и ту же процедуру перед тем, как попасть на витрину, и повторную — при покупателе.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" y="3611880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703320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подлинности и серийного номера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56709" y="3703320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4032504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4123944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аккумулятора и циклы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756709" y="4123944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453128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4544568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Камеры, экран, корпус, разъёмы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56709" y="4544568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4873752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4965192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Отсутствие следов вскрытия и замен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756709" y="4965192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5294376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5385816"/>
            <a:ext cx="4025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Присвоение состояния A или B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756709" y="5385816"/>
            <a:ext cx="2467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5715000"/>
            <a:ext cx="649224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1520" y="58064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 получает этот чек-лист, скрипт продавца и обучение — не нужно изобретать процедуру самому.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РАЗВИЛКА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Почему франшиза, а не с нуля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 электроники можно открыть и самому. Вопрос в том, чем вы заплатите за опыт, который у нас уже есть.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3322320" cy="29260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331012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Канал закупки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160520"/>
            <a:ext cx="2737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электроники полон серых схем, и цена ошибки — не только деньги, но и проверки. Мы отдаём отлаженный легальный канал и прозрачную экономику закупки.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9600" y="3017520"/>
            <a:ext cx="3322320" cy="29260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2208" y="331012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Роялти, которые не кончаются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12208" y="4160520"/>
            <a:ext cx="2737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Классическая франшиза берёт с вас процент с оборота каждый месяц — и чем лучше вы работаете, тем больше платите. У нас этого нет.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7680" y="3017520"/>
            <a:ext cx="3322320" cy="292608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0288" y="3310128"/>
            <a:ext cx="2737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 источник дохода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00288" y="4160520"/>
            <a:ext cx="2737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Магазин, живущий только на наценке, зависит от курса и даты релиза. Мы приносим вторую линию — кредитование через Lendo — с первого дня.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ВЫГЛЯДИМ НА ФОНЕ РЫНКА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Чем мы отличаемся от типовой франшизы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Роялти с оборота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64578" y="2377440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франшиза 2–7 %   ·   re:bar 0 %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761488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852928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64578" y="2852928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тыс. – 1 млн ₽   ·   re:bar от 100 тыс. по акции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328416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поток дохода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64578" y="3328416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  ·   Lendo, до 4 %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712464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03904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Заявленный срок запуска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64578" y="3803904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31–45 дней   ·   re:bar 60–90, реалистично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187952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79392"/>
            <a:ext cx="66330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Собственных точек у управляющей компании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64578" y="4279392"/>
            <a:ext cx="40654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своих из 193   ·   re:bar 2 из 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не платите за бренд каждый месяц. Вы зарабатываете на товаре и на кредитовании, а управляющая компания — на поставках, то есть тогда же, когда и вы.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сроки отдельно: 31–45 дней — это то, что обещают. Мы называем 60–90, потому что столько занимает поиск помещения и ремонт в реальности.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ЮНИТ-ЭКОНОМИКА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Сколько нужно вложить и когда это вернётся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3322320" cy="251460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86584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ПУНКТ ВЫДАЧИ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1,25</a:t>
            </a:r>
            <a:r>
              <a:rPr lang="en-US" sz="1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млн ₽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27832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в открытие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3566160"/>
            <a:ext cx="27736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70332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10–14 мес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690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Окупаемость. Формат для городов до 100 тысяч человек.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9600" y="2148840"/>
            <a:ext cx="3322320" cy="251460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3920" y="2386584"/>
            <a:ext cx="673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· РЕКОМЕНДУЕМ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93920" y="26974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2,85</a:t>
            </a:r>
            <a:r>
              <a:rPr lang="en-US" sz="1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млн ₽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693920" y="3227832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в открытие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3920" y="3566160"/>
            <a:ext cx="27736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93920" y="370332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5–8 мес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93920" y="40690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Окупаемость. Лучшее соотношение вложений и отдачи — как в Иркутске.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2148840"/>
            <a:ext cx="3322320" cy="251460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2000" y="2386584"/>
            <a:ext cx="304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ФЛАГМАН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2697480"/>
            <a:ext cx="277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7,6</a:t>
            </a:r>
            <a:r>
              <a:rPr lang="en-US" sz="1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млн ₽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3227832"/>
            <a:ext cx="277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в открытие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82000" y="3566160"/>
            <a:ext cx="27736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82000" y="370332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10–14 мес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82000" y="4069080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 с учётом сезонности первого года. По модели — 8–10.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1206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СЧИТАЛИ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3949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Финмодель калибрована на реальных показателях Улан-Удэ и Иркутска и учитывает медленный старт: месяцы 1–3 работают на 60 % мощности, 4–6 — на 85 %, с 7-го — на 100 %.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1206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ЭТО ПОДТВЕРЖДЕНО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3949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откалибрована не на теории: Иркутск окупился за 7 месяцев, Улан-Удэ — за 11. Их фактические показатели — на втором слайде, отчёты покажем на встрече.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формата, один платёж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6419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Пункт выдачи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50608" y="2286000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 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52928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944368"/>
            <a:ext cx="6419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Стандарт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2944368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500 000 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11296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602736"/>
            <a:ext cx="6419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Флагман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3602736"/>
            <a:ext cx="4279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950 000 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169664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389120"/>
            <a:ext cx="5166360" cy="1572768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608576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ДЕЙСТВУЕТ СЕЙЧАС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9011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100 000 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5321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 для первых трёх партнёров — независимо от выбранного формата.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4389120"/>
            <a:ext cx="5166360" cy="1572768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60857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 НА ТЕРРИТОРИЮ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90118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 партнёр — один город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5394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городов до 500 тысяч человек. В городах-миллионниках — эксклюзив на район. Второй точке партнёра — скидка 30 %.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1081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30"/>
              </a:lnSpc>
              <a:buNone/>
            </a:pPr>
            <a:r>
              <a:rPr lang="en-US" sz="9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Товарный знак re:bar в процессе регистрации: права передаём по лицензионному договору с даты подачи заявки в Роспатент, после регистрации переводим партнёров на концессию.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ОТЛИЧИЕ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0%</a:t>
            </a:r>
            <a:endParaRPr lang="en-US" sz="10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ЕЖЕМЕСЯЧНЫХ РОЯЛТИ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05156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Мы не забираем процент</a:t>
            </a:r>
            <a:endParaRPr lang="en-US" sz="2600" dirty="0"/>
          </a:p>
          <a:p>
            <a:pPr marL="0" indent="0">
              <a:lnSpc>
                <a:spcPts val="3016"/>
              </a:lnSpc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 вашей выручки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2377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Обычная франшиза берёт 3–7 % с оборота каждый месяц — навсегда. Мы этого не делаем, и вот почему это честно для обеих сторон.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0" y="3474720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12080" y="3566160"/>
            <a:ext cx="3855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 — разово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067190" y="3566160"/>
            <a:ext cx="2362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упаковку и запуск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3895344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3986784"/>
            <a:ext cx="3855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Наценка на централизованных закупках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067190" y="3986784"/>
            <a:ext cx="2362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3–8 %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4315968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4407408"/>
            <a:ext cx="38551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дополнительного персонала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067190" y="4407408"/>
            <a:ext cx="2362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тыс. ₽ / чел.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4736592"/>
            <a:ext cx="621792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50292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Управляющая компания зарабатывает тогда, когда партнёр закупает товар, — то есть когда у него идут продажи. Наш доход растёт вместе с вашим, а не вместо него.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 ПОЛУЧАЕТЕ ЗА ПАУШАЛЬНЫЙ ВЗНОС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8"/>
              </a:lnSpc>
              <a:buNone/>
            </a:pPr>
            <a:r>
              <a:rPr lang="en-US" sz="28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Девять блоков, закрывающих запуск целиком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22860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Юридическая упаковка.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Пакет договоров, регистрация, схема работы с поставщиками.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5008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834128" y="22860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 утверждение локации.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Чек-лист помещения, оценка вариантов куратором. Плохую точку не согласуем.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6864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52688" y="22860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дизайн-проект.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Планировка, витрины, свет, вывеска и неон.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6576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Чек-лист ремонта и брендирования.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 этапам, с бюджетом и сроками.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34128" y="36576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Стартовый ассортимент.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Подобран под ваш город. Первые 3 месяца — пере-подбор бесплатно.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6864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552688" y="36576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Скрипты продаж, тесты, удалённое обучение плюс приезд тренера на 3 дня.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50292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Маркетинговый пакет открытия.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Материалы, календарь публикаций, работа с блогерами.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5008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34128" y="50292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Куратор на 90 дней.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Ежедневно первые две недели после открытия, дальше — еженедельно.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6864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52688" y="5029200"/>
            <a:ext cx="2877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поставщиков.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Наши закупочные условия и логистика.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 чем вы выходите в свой город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Открыться тихо — значит первые месяцы работать в убыток на аренде. Поэтому маркетинг открытия входит в паушальный взнос, а не продаётся отдельно.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5120640" cy="31089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163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 В ПАУШАЛЬНЫЙ ВЗНОС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352958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6210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материалов открытия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621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баннеры, вывеска, POS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395020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 постов и календарь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первый месяц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4370832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4622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Прогрев соцсетей до открытия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недели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4791456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8828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дня открытия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882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под ключ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5212080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2926080"/>
            <a:ext cx="5120640" cy="3108960"/>
          </a:xfrm>
          <a:prstGeom prst="rect">
            <a:avLst/>
          </a:prstGeom>
          <a:solidFill>
            <a:srgbClr val="E9EAEA"/>
          </a:solidFill>
          <a:ln w="9525">
            <a:solidFill>
              <a:srgbClr val="C7C9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163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— ПО ЖЕЛАНИЮ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529584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36210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Ведение рекламы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621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 тыс. ₽ / мес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3950208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Посевы у местных блогеров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бюджету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4370832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0" y="44622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креативы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41832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запросу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0" y="4791456"/>
            <a:ext cx="457200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0" y="5074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 на территорию: </a:t>
            </a: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городах до 500 тысяч человек один партнёр — один город. Ваш маркетинг не работает на соседа по сети.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panel-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ДОГОВОРА ДО ОТКРЫТИЯ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051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60 дней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920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 путь один: помещение → аренда → ремонт → открытие. Всё остальное ведём параллельно, чтобы вы не ждали.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86384" y="2788920"/>
            <a:ext cx="10973" cy="3730752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2834640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0 — 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 и документы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6384" y="3264408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3218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5 — 25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3218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помещения по чек-листу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" y="3694176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3648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23 — 33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3648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локации, договор аренды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" y="4123944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28 — 36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103120" y="40782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Дизайн-проект и технический план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" y="4553712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97280" y="4507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33 — 52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2103120" y="4507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Ремонт: демонтаж, черновые, электрика, чистовая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" y="4983480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97280" y="4937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45 — 58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2103120" y="4937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Закуп ассортимента, брендирование, вывеска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86384" y="5413248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97280" y="5367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50 — 65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2103120" y="53675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персонала, разгон соцсетей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40664" y="5797296"/>
            <a:ext cx="201168" cy="20116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97280" y="5797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60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103120" y="5797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Открытие. Куратор приезжает на точку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86384" y="6272784"/>
            <a:ext cx="109728" cy="109728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97280" y="62270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60 — 90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2103120" y="6227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 и аудит после запуска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УПРАВЛЯЮЩАЯ КОМПАНИЯ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Кто ведёт ваш запуск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Девяносто дней у вас есть один человек, который отвечает за результат, — куратор запуска. Остальные подключаются по своим участкам.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063240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Куратор запуска — ваш контакт все 90 дней, ведёт по календарю и отвечает за срок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64578" y="3063240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ежедневно первые 2 недели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483864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575304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— утверждает локацию и дизайн-проект, выходит на ключевые созвоны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64578" y="3575304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95928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087368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заявки, документы, сопровождение сделки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64578" y="4087368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подписания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599432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Маркетолог — пакет открытия и реклама первого месяца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64578" y="4599432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 недели до старта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020056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111496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Дизайнер — планировка зала, витрины, свет, вывеска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64578" y="5111496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аренды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53212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623560"/>
            <a:ext cx="6633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 и бухгалтер — договоры и регистрация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64578" y="5623560"/>
            <a:ext cx="4065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аутсорсе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6044184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АУДИТОРИЯ, КОТОРАЯ ДОСТАЁТСЯ ПАРТНЁРУ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Бренд уже узнают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2011680" cy="597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21,2K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9597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подписчиков в Instagram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@applebar.ru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286000"/>
            <a:ext cx="2011680" cy="597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1,1 млн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929597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просмотров за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последние 30 дней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286000"/>
            <a:ext cx="1920240" cy="597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315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929597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публикаций, аккаунт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ведём с 2021 года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Аккаунт работает на оба города сразу и уже продаёт: закреплённые подборки «Re:set», «Доставка» и «Подарки» собирают по 7–8 тысяч просмотров каждая. Партнёр заходит в сеть с готовым каналом, а не с нулём подписчиков.</a:t>
            </a:r>
            <a:endParaRPr lang="en-US" sz="1200" dirty="0"/>
          </a:p>
        </p:txBody>
      </p:sp>
      <p:pic>
        <p:nvPicPr>
          <p:cNvPr id="12" name="Image 0" descr="C:\Users\dead inside\AppData\Local\Temp\claude\D-------\bc764d1c-317c-49cb-8a76-6f68c6dca560\scratchpad\pptx-assets\ig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640080"/>
            <a:ext cx="237744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КЕМ ВЫ БУДЕТЕ РАБОТАТЬ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291840" cy="4114800"/>
          </a:xfrm>
          <a:prstGeom prst="rect">
            <a:avLst/>
          </a:prstGeom>
          <a:solidFill>
            <a:srgbClr val="E9EAEA"/>
          </a:solidFill>
          <a:ln w="12700">
            <a:solidFill>
              <a:srgbClr val="C7C9C9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ОСНОВАТЕЛЯ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Дамдин Цыпылов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0574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сети. Открыл первый магазин в Улан-Удэ в 2021 году, второй — в Иркутске в 2023-м. Управляющая компания re:bar работает от его ИП.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3200400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3291840"/>
            <a:ext cx="4138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Утверждает локацию каждого партнёра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93454" y="3291840"/>
            <a:ext cx="2536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621024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3712464"/>
            <a:ext cx="4138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Ведёт дизайн-проект новой точки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93454" y="3712464"/>
            <a:ext cx="2536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открытия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4041648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4133088"/>
            <a:ext cx="4138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Остаётся на связи после запуска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93454" y="4133088"/>
            <a:ext cx="2536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посредников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4462272"/>
            <a:ext cx="667512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4846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Франшизу продаёт не отдел продаж, а человек, который сам стоял за стойкой и до сих пор управляет двумя работающими магазинами.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ИДЁТ СЕТЬ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ru-RU" sz="30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54</a:t>
            </a:r>
            <a:r>
              <a:rPr lang="en-US" sz="30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точек к концу 2027 года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собираемся продавать франшизу всем подряд и как можно быстрее. План рассчитан так, чтобы куратор физически успевал вести каждый запуск.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</a:t>
            </a:r>
            <a:r>
              <a:rPr lang="ru-RU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326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r>
              <a:rPr lang="ru-RU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втором </a:t>
            </a:r>
            <a:r>
              <a:rPr lang="en-US" sz="1050" dirty="0" err="1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полугодии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— первые партнёры по промо-условиям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450080" y="301752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</a:t>
            </a:r>
            <a:r>
              <a:rPr lang="ru-RU" sz="5200" dirty="0" smtClean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24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450080" y="3977640"/>
            <a:ext cx="326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ru-RU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первом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полугодии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r>
              <a:rPr lang="ru-RU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050" dirty="0" smtClean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обкатан процесс запуска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68640" y="3017520"/>
            <a:ext cx="326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5200" dirty="0" smtClean="0">
                <a:latin typeface="Unbounded" pitchFamily="2" charset="-52"/>
              </a:rPr>
              <a:t>54</a:t>
            </a:r>
            <a:endParaRPr lang="en-US" sz="5200" dirty="0">
              <a:latin typeface="Unbounded" pitchFamily="2" charset="-52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168640" y="3977640"/>
            <a:ext cx="326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точек к концу 2027 года — Сибирь и Дальний Восток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5120640"/>
            <a:ext cx="10698480" cy="10973"/>
          </a:xfrm>
          <a:prstGeom prst="rect">
            <a:avLst/>
          </a:prstGeom>
          <a:solidFill>
            <a:srgbClr val="C7C9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раньше вы заходите, тем больше свободных городов и тем дешевле вход. Эксклюзив закрепляется за первым партнёром в городе.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ВОПРОСЫ, КОТОРЫЕ ЗАДАЮТ ДО СОЗВОНА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80"/>
              </a:lnSpc>
              <a:buNone/>
            </a:pPr>
            <a:r>
              <a:rPr lang="en-US" sz="3000" dirty="0">
                <a:solidFill>
                  <a:srgbClr val="0D0D0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Коротко о главном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2194560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сколько окупится?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Стандарт 5–8 месяцев, флагман 10–14 с учётом медленного старта, пункт выдачи 8–14.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50080" y="2194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834128" y="2194560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 0 % роялти?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Да, ежемесячных платежей нет. УК зарабатывает на паушале и наценке на поставках.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68640" y="21945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52688" y="2194560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ищет помещение?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 по нашему чек-листу, куратор утверждает. Плохую локацию не согласуем.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493008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эксклюзив на город?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 500 тысяч населения — один партнёр на город. В миллионниках — на район.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34128" y="3493008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если товар не пойдёт?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Первые три месяца пере-подбор ассортимента бесплатно.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6864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552688" y="3493008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если не найду продавцов?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Методичка найма, скрипты, тесты. Тренер приезжает на 3 дня до открытия.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791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791456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разойдёмся?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Процедура в договоре. Паушал не возвращается, оборудование и товар остаются у вас.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50080" y="4791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34128" y="4791456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вторую точку?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Да, скидка 30 % на паушал второй точки и приоритет по городам.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168640" y="4791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52688" y="4791456"/>
            <a:ext cx="287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меня?</a:t>
            </a:r>
            <a:r>
              <a:rPr lang="en-US" sz="11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Бюджет по формату, помещение по чек-листу, роль управляющего первые 3–6 месяцев.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список из двадцати вопросов — в методичке партнёра, отдаём вместе с договором.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ad inside\AppData\Local\Temp\claude\D-------\bc764d1c-317c-49cb-8a76-6f68c6dca560\scratchpad\pptx-assets\full-c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64008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914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Давайте посчитаем вашу точку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2148840"/>
            <a:ext cx="3566160" cy="2651760"/>
          </a:xfrm>
          <a:prstGeom prst="rect">
            <a:avLst/>
          </a:prstGeom>
          <a:solidFill>
            <a:srgbClr val="1A1B1C"/>
          </a:solidFill>
          <a:ln w="9525">
            <a:solidFill>
              <a:srgbClr val="3436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23865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ДЕЙСТВУЕТ СЕЙЧАС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E9EA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100 000 ₽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Паушальный взнос первым трём партнёрам вместо 250–950 тысяч, независимо от формата.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4114800"/>
            <a:ext cx="301752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 на город закрепляется за тем, кто подписал первым.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1488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22402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Пишете в Telegram — расскажете про город и бюджет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928202" y="22402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26060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46320" y="26974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Созвон 15 минут — смотрим, подходим ли друг другу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28202" y="26974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дня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0632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31546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Zoom с основателем — разбираем финмодель под ваш город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928202" y="31546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минут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35204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3611880"/>
            <a:ext cx="4081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Договор и старт календаря запуска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928202" y="3611880"/>
            <a:ext cx="2501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60–90 дней до открытия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3977640"/>
            <a:ext cx="65836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просто приезжайте в Улан-Удэ или Иркутск — покажем зал, кассу и отчёты без записи. Презентацию можно нарисовать любую, магазин — нет.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" y="5120640"/>
            <a:ext cx="10698480" cy="10973"/>
          </a:xfrm>
          <a:prstGeom prst="rect">
            <a:avLst/>
          </a:prstGeom>
          <a:solidFill>
            <a:srgbClr val="34363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152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НАПИСАТЬ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@damdiin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УЛАН-УДЭ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(924) 392-13-11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ТРЦ «Гэлакси», 3 этаж, п. 323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(993) 939-18-06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Богдана Хмельницкого, 3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823960" y="5349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60" dirty="0">
                <a:solidFill>
                  <a:srgbClr val="9C9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823960" y="5623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Дамдин Цыпылов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@applebar.ru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2488</Words>
  <Application>Microsoft Office PowerPoint</Application>
  <PresentationFormat>Широкоэкранный</PresentationFormat>
  <Paragraphs>381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dmdn</cp:lastModifiedBy>
  <cp:revision>2</cp:revision>
  <dcterms:created xsi:type="dcterms:W3CDTF">2026-09-04T08:31:11Z</dcterms:created>
  <dcterms:modified xsi:type="dcterms:W3CDTF">2026-09-04T11:35:28Z</dcterms:modified>
</cp:coreProperties>
</file>